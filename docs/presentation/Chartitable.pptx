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This is Chartitable. Not charitable. Chart-it-able. If your donation does something good, you should be able to chart it. Not with an actual chart. It's a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give $[X]. I go back a month later and nothing has changed. Where did my money go? Black 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problems charities have is donor retention. According to the Fundraising Effectiveness Project, only 43.3% of donors gave again the next year, so more than half never come back. And that costs real money: in one year, just the 10,640 charities in FEP's dataset lost $4.6 billion to donors who stopped giving or gave less. There are about 1.6 million 501(c)(3) charities in the US, and every one of them has this same leaky bucket. The bucket leaks because donors never see what happened next. Sources: 43.3% retention - Fundraising Effectiveness Project, Q4 2025, https://publications.fepreports.org/archive/2025-q4/retention-time-series/ . $4.6B - 2019 Fundraising Effectiveness Survey Report (AFP/Urban Institute; 2018 data): gains of $5.009B offset by losses of $4.643B through reduced gifts and lapsed donors across 10,640 US nonprofits, https://afpglobal.org/sites/default/files/attachments/generic/FEP2019AnnualSurveyReport.pdf . 1.6M - IRS Data Book FY2025, Table 2-6: 1,596,231 recognized 501(c)(3) organizations (includes private foundations; excludes churches that never applied), https://www.irs.gov/statistics/soi-tax-stats-tax-exempt-organizations-and-nonexempt-charitable-trusts-irs-data-book-table-2-6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Chartitable closes that loop. After you give, you see what your money did, and the charity gets an easy way to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Donors stay when they can see the impact. Chartitable makes your giving chart-it-able. Thank you. Please clap. Please fund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5.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 Id="rIdG1a" Type="http://schemas.openxmlformats.org/officeDocument/2006/relationships/image" Target="../media/g1-bucket.png"/><Relationship Id="rIdG1d" Type="http://schemas.openxmlformats.org/officeDocument/2006/relationships/image" Target="../media/g1-fep.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 Id="rIdG1b" Type="http://schemas.openxmlformats.org/officeDocument/2006/relationships/image" Target="../media/g1-window.png"/><Relationship Id="rIdG1c" Type="http://schemas.openxmlformats.org/officeDocument/2006/relationships/image" Target="../media/g1-sun.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g2-cursor.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image" Target="../media/g2-king.png"/><Relationship Id="rId4" Type="http://schemas.openxmlformats.org/officeDocument/2006/relationships/image" Target="../media/g2-hole.png"/><Relationship Id="rId5" Type="http://schemas.openxmlformats.org/officeDocument/2006/relationships/slideLayout" Target="../slideLayouts/slideLayout1.xml"/><Relationship Id="rId6" Type="http://schemas.openxmlformats.org/officeDocument/2006/relationships/notesSlide" Target="../notesSlides/notesSlide6.xml"/><Relationship Id="rIdLogo0" Type="http://schemas.openxmlformats.org/officeDocument/2006/relationships/image" Target="../media/logo-claude.png"/><Relationship Id="rIdLogo1" Type="http://schemas.openxmlformats.org/officeDocument/2006/relationships/image" Target="../media/logo-convex.png"/><Relationship Id="rIdLogo2" Type="http://schemas.openxmlformats.org/officeDocument/2006/relationships/image" Target="../media/logo-vercel.png"/><Relationship Id="rIdLogo3" Type="http://schemas.openxmlformats.org/officeDocument/2006/relationships/image" Target="../media/logo-cursor.png"/><Relationship Id="rIdLogo4" Type="http://schemas.openxmlformats.org/officeDocument/2006/relationships/image" Target="../media/logo-resend.png"/><Relationship Id="rIdLogo5" Type="http://schemas.openxmlformats.org/officeDocument/2006/relationships/image" Target="../media/logo-figma.png"/><Relationship Id="rIdLogo6" Type="http://schemas.openxmlformats.org/officeDocument/2006/relationships/image" Target="../media/logo-grokbot.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ecorative MS Paint doodle">    </p:cNvPr>
          <p:cNvPicPr>
            <a:picLocks noChangeAspect="1"/>
          </p:cNvPicPr>
          <p:nvPr/>
        </p:nvPicPr>
        <p:blipFill>
          <a:blip r:embed="rId1"/>
          <a:stretch>
            <a:fillRect/>
          </a:stretch>
        </p:blipFill>
        <p:spPr>
          <a:xfrm>
            <a:off x="0" y="0"/>
            <a:ext cx="12191695" cy="6858000"/>
          </a:xfrm>
          <a:prstGeom prst="rect">
            <a:avLst/>
          </a:prstGeom>
        </p:spPr>
      </p:pic>
      <p:pic>
        <p:nvPicPr>
          <p:cNvPr id="3" name="Image 1" descr="decorative MS Paint doodle">    </p:cNvPr>
          <p:cNvPicPr>
            <a:picLocks noChangeAspect="1"/>
          </p:cNvPicPr>
          <p:nvPr/>
        </p:nvPicPr>
        <p:blipFill>
          <a:blip r:embed="rId2"/>
          <a:stretch>
            <a:fillRect/>
          </a:stretch>
        </p:blipFill>
        <p:spPr>
          <a:xfrm>
            <a:off x="10058400" y="0"/>
            <a:ext cx="2011680" cy="1463040"/>
          </a:xfrm>
          <a:prstGeom prst="rect">
            <a:avLst/>
          </a:prstGeom>
        </p:spPr>
      </p:pic>
      <p:pic>
        <p:nvPicPr>
          <p:cNvPr id="4" name="Image 2" descr="decorative MS Paint doodle">    </p:cNvPr>
          <p:cNvPicPr>
            <a:picLocks noChangeAspect="1"/>
          </p:cNvPicPr>
          <p:nvPr/>
        </p:nvPicPr>
        <p:blipFill>
          <a:blip r:embed="rId3"/>
          <a:stretch>
            <a:fillRect/>
          </a:stretch>
        </p:blipFill>
        <p:spPr>
          <a:xfrm>
            <a:off x="7223760" y="5257800"/>
            <a:ext cx="2011680" cy="1463040"/>
          </a:xfrm>
          <a:prstGeom prst="rect">
            <a:avLst/>
          </a:prstGeom>
        </p:spPr>
      </p:pic>
      <p:pic>
        <p:nvPicPr>
          <p:cNvPr id="5" name="Image 3" descr="decorative MS Paint doodle">    </p:cNvPr>
          <p:cNvPicPr>
            <a:picLocks noChangeAspect="1"/>
          </p:cNvPicPr>
          <p:nvPr/>
        </p:nvPicPr>
        <p:blipFill>
          <a:blip r:embed="rId4"/>
          <a:stretch>
            <a:fillRect/>
          </a:stretch>
        </p:blipFill>
        <p:spPr>
          <a:xfrm rot="360000">
            <a:off x="7818120" y="1051560"/>
            <a:ext cx="3840480" cy="3657600"/>
          </a:xfrm>
          <a:prstGeom prst="rect">
            <a:avLst/>
          </a:prstGeom>
        </p:spPr>
      </p:pic>
      <p:sp>
        <p:nvSpPr>
          <p:cNvPr id="6" name="Text 0"/>
          <p:cNvSpPr/>
          <p:nvPr/>
        </p:nvSpPr>
        <p:spPr>
          <a:xfrm rot="-240000">
            <a:off x="640080" y="1051560"/>
            <a:ext cx="6583680" cy="1554480"/>
          </a:xfrm>
          <a:prstGeom prst="rect">
            <a:avLst/>
          </a:prstGeom>
          <a:noFill/>
          <a:ln/>
        </p:spPr>
        <p:txBody>
          <a:bodyPr wrap="square" lIns="0" tIns="0" rIns="0" bIns="0" rtlCol="0" anchor="ctr"/>
          <a:lstStyle/>
          <a:p>
            <a:pPr indent="0" marL="0">
              <a:buNone/>
            </a:pPr>
            <a:r>
              <a:rPr lang="en-US" sz="8800" b="1" dirty="0">
                <a:ln w="25400">
                  <a:solidFill>
                    <a:srgbClr val="000000"/>
                  </a:solidFill>
                </a:ln>
                <a:solidFill>
                  <a:srgbClr val="FF0000"/>
                </a:solidFill>
                <a:latin typeface="Comic Sans MS" pitchFamily="34" charset="0"/>
                <a:ea typeface="Comic Sans MS" pitchFamily="34" charset="-122"/>
                <a:cs typeface="Comic Sans MS" pitchFamily="34" charset="-120"/>
              </a:rPr>
              <a:t>Chartitable</a:t>
            </a:r>
            <a:endParaRPr lang="en-US" sz="8800" dirty="0"/>
          </a:p>
        </p:txBody>
      </p:sp>
      <p:sp>
        <p:nvSpPr>
          <p:cNvPr id="7" name="Text 1"/>
          <p:cNvSpPr/>
          <p:nvPr/>
        </p:nvSpPr>
        <p:spPr>
          <a:xfrm rot="180000">
            <a:off x="1188720" y="2514600"/>
            <a:ext cx="4937760" cy="640080"/>
          </a:xfrm>
          <a:prstGeom prst="rect">
            <a:avLst/>
          </a:prstGeom>
          <a:noFill/>
          <a:ln/>
        </p:spPr>
        <p:txBody>
          <a:bodyPr wrap="square" lIns="0" tIns="0" rIns="0" bIns="0" rtlCol="0" anchor="ctr"/>
          <a:lstStyle/>
          <a:p>
            <a:pPr indent="0" marL="0">
              <a:buNone/>
            </a:pPr>
            <a:r>
              <a:rPr lang="en-US" sz="3200" b="1" dirty="0">
                <a:solidFill>
                  <a:srgbClr val="FF0000"/>
                </a:solidFill>
                <a:latin typeface="Comic Sans MS" pitchFamily="34" charset="0"/>
                <a:ea typeface="Comic Sans MS" pitchFamily="34" charset="-122"/>
                <a:cs typeface="Comic Sans MS" pitchFamily="34" charset="-120"/>
              </a:rPr>
              <a:t>(</a:t>
            </a:r>
            <a:r>
              <a:rPr lang="en-US" sz="3200" b="1" dirty="0">
                <a:solidFill>
                  <a:srgbClr val="FF8000"/>
                </a:solidFill>
                <a:latin typeface="Comic Sans MS" pitchFamily="34" charset="0"/>
                <a:ea typeface="Comic Sans MS" pitchFamily="34" charset="-122"/>
                <a:cs typeface="Comic Sans MS" pitchFamily="34" charset="-120"/>
              </a:rPr>
              <a:t>c</a:t>
            </a:r>
            <a:r>
              <a:rPr lang="en-US" sz="3200" b="1" dirty="0">
                <a:solidFill>
                  <a:srgbClr val="00C800"/>
                </a:solidFill>
                <a:latin typeface="Comic Sans MS" pitchFamily="34" charset="0"/>
                <a:ea typeface="Comic Sans MS" pitchFamily="34" charset="-122"/>
                <a:cs typeface="Comic Sans MS" pitchFamily="34" charset="-120"/>
              </a:rPr>
              <a:t>h</a:t>
            </a:r>
            <a:r>
              <a:rPr lang="en-US" sz="3200" b="1" dirty="0">
                <a:solidFill>
                  <a:srgbClr val="0000FF"/>
                </a:solidFill>
                <a:latin typeface="Comic Sans MS" pitchFamily="34" charset="0"/>
                <a:ea typeface="Comic Sans MS" pitchFamily="34" charset="-122"/>
                <a:cs typeface="Comic Sans MS" pitchFamily="34" charset="-120"/>
              </a:rPr>
              <a:t>a</a:t>
            </a:r>
            <a:r>
              <a:rPr lang="en-US" sz="3200" b="1" dirty="0">
                <a:solidFill>
                  <a:srgbClr val="8000FF"/>
                </a:solidFill>
                <a:latin typeface="Comic Sans MS" pitchFamily="34" charset="0"/>
                <a:ea typeface="Comic Sans MS" pitchFamily="34" charset="-122"/>
                <a:cs typeface="Comic Sans MS" pitchFamily="34" charset="-120"/>
              </a:rPr>
              <a:t>r</a:t>
            </a:r>
            <a:r>
              <a:rPr lang="en-US" sz="3200" b="1" dirty="0">
                <a:solidFill>
                  <a:srgbClr val="FF00FF"/>
                </a:solidFill>
                <a:latin typeface="Comic Sans MS" pitchFamily="34" charset="0"/>
                <a:ea typeface="Comic Sans MS" pitchFamily="34" charset="-122"/>
                <a:cs typeface="Comic Sans MS" pitchFamily="34" charset="-120"/>
              </a:rPr>
              <a:t>t</a:t>
            </a:r>
            <a:r>
              <a:rPr lang="en-US" sz="3200" b="1" dirty="0">
                <a:solidFill>
                  <a:srgbClr val="FF0000"/>
                </a:solidFill>
                <a:latin typeface="Comic Sans MS" pitchFamily="34" charset="0"/>
                <a:ea typeface="Comic Sans MS" pitchFamily="34" charset="-122"/>
                <a:cs typeface="Comic Sans MS" pitchFamily="34" charset="-120"/>
              </a:rPr>
              <a:t>-</a:t>
            </a:r>
            <a:r>
              <a:rPr lang="en-US" sz="3200" b="1" dirty="0">
                <a:solidFill>
                  <a:srgbClr val="FF8000"/>
                </a:solidFill>
                <a:latin typeface="Comic Sans MS" pitchFamily="34" charset="0"/>
                <a:ea typeface="Comic Sans MS" pitchFamily="34" charset="-122"/>
                <a:cs typeface="Comic Sans MS" pitchFamily="34" charset="-120"/>
              </a:rPr>
              <a:t>i</a:t>
            </a:r>
            <a:r>
              <a:rPr lang="en-US" sz="3200" b="1" dirty="0">
                <a:solidFill>
                  <a:srgbClr val="00C800"/>
                </a:solidFill>
                <a:latin typeface="Comic Sans MS" pitchFamily="34" charset="0"/>
                <a:ea typeface="Comic Sans MS" pitchFamily="34" charset="-122"/>
                <a:cs typeface="Comic Sans MS" pitchFamily="34" charset="-120"/>
              </a:rPr>
              <a:t>t</a:t>
            </a:r>
            <a:r>
              <a:rPr lang="en-US" sz="3200" b="1" dirty="0">
                <a:solidFill>
                  <a:srgbClr val="0000FF"/>
                </a:solidFill>
                <a:latin typeface="Comic Sans MS" pitchFamily="34" charset="0"/>
                <a:ea typeface="Comic Sans MS" pitchFamily="34" charset="-122"/>
                <a:cs typeface="Comic Sans MS" pitchFamily="34" charset="-120"/>
              </a:rPr>
              <a:t>-</a:t>
            </a:r>
            <a:r>
              <a:rPr lang="en-US" sz="3200" b="1" dirty="0">
                <a:solidFill>
                  <a:srgbClr val="8000FF"/>
                </a:solidFill>
                <a:latin typeface="Comic Sans MS" pitchFamily="34" charset="0"/>
                <a:ea typeface="Comic Sans MS" pitchFamily="34" charset="-122"/>
                <a:cs typeface="Comic Sans MS" pitchFamily="34" charset="-120"/>
              </a:rPr>
              <a:t>a</a:t>
            </a:r>
            <a:r>
              <a:rPr lang="en-US" sz="3200" b="1" dirty="0">
                <a:solidFill>
                  <a:srgbClr val="FF00FF"/>
                </a:solidFill>
                <a:latin typeface="Comic Sans MS" pitchFamily="34" charset="0"/>
                <a:ea typeface="Comic Sans MS" pitchFamily="34" charset="-122"/>
                <a:cs typeface="Comic Sans MS" pitchFamily="34" charset="-120"/>
              </a:rPr>
              <a:t>b</a:t>
            </a:r>
            <a:r>
              <a:rPr lang="en-US" sz="3200" b="1" dirty="0">
                <a:solidFill>
                  <a:srgbClr val="FF0000"/>
                </a:solidFill>
                <a:latin typeface="Comic Sans MS" pitchFamily="34" charset="0"/>
                <a:ea typeface="Comic Sans MS" pitchFamily="34" charset="-122"/>
                <a:cs typeface="Comic Sans MS" pitchFamily="34" charset="-120"/>
              </a:rPr>
              <a:t>l</a:t>
            </a:r>
            <a:r>
              <a:rPr lang="en-US" sz="3200" b="1" dirty="0">
                <a:solidFill>
                  <a:srgbClr val="FF8000"/>
                </a:solidFill>
                <a:latin typeface="Comic Sans MS" pitchFamily="34" charset="0"/>
                <a:ea typeface="Comic Sans MS" pitchFamily="34" charset="-122"/>
                <a:cs typeface="Comic Sans MS" pitchFamily="34" charset="-120"/>
              </a:rPr>
              <a:t>e</a:t>
            </a:r>
            <a:r>
              <a:rPr lang="en-US" sz="3200" b="1" dirty="0">
                <a:solidFill>
                  <a:srgbClr val="00C800"/>
                </a:solidFill>
                <a:latin typeface="Comic Sans MS" pitchFamily="34" charset="0"/>
                <a:ea typeface="Comic Sans MS" pitchFamily="34" charset="-122"/>
                <a:cs typeface="Comic Sans MS" pitchFamily="34" charset="-120"/>
              </a:rPr>
              <a:t>)</a:t>
            </a:r>
            <a:endParaRPr lang="en-US" sz="3200" dirty="0"/>
          </a:p>
        </p:txBody>
      </p:sp>
      <p:sp>
        <p:nvSpPr>
          <p:cNvPr id="8" name="Text 2"/>
          <p:cNvSpPr/>
          <p:nvPr/>
        </p:nvSpPr>
        <p:spPr>
          <a:xfrm rot="-120000">
            <a:off x="3840480" y="4297680"/>
            <a:ext cx="4754880" cy="1188720"/>
          </a:xfrm>
          <a:prstGeom prst="rect">
            <a:avLst/>
          </a:prstGeom>
          <a:noFill/>
          <a:ln/>
        </p:spPr>
        <p:txBody>
          <a:bodyPr wrap="square" lIns="0" tIns="0" rIns="0" bIns="0" rtlCol="0" anchor="ctr"/>
          <a:lstStyle/>
          <a:p>
            <a:pPr algn="l" indent="0" marL="0">
              <a:buNone/>
            </a:pPr>
            <a:r>
              <a:rPr lang="en-US" sz="2600" b="1" dirty="0">
                <a:solidFill>
                  <a:srgbClr val="0000FF"/>
                </a:solidFill>
                <a:latin typeface="Comic Sans MS" pitchFamily="34" charset="0"/>
                <a:ea typeface="Comic Sans MS" pitchFamily="34" charset="-122"/>
                <a:cs typeface="Comic Sans MS" pitchFamily="34" charset="-120"/>
              </a:rPr>
              <a:t>if ur donation does good,</a:t>
            </a:r>
            <a:endParaRPr lang="en-US" sz="2600" dirty="0"/>
          </a:p>
          <a:p>
            <a:pPr algn="l" indent="0" marL="0">
              <a:buNone/>
            </a:pPr>
            <a:r>
              <a:rPr lang="en-US" sz="2600" b="1" dirty="0">
                <a:solidFill>
                  <a:srgbClr val="0000FF"/>
                </a:solidFill>
                <a:latin typeface="Comic Sans MS" pitchFamily="34" charset="0"/>
                <a:ea typeface="Comic Sans MS" pitchFamily="34" charset="-122"/>
                <a:cs typeface="Comic Sans MS" pitchFamily="34" charset="-120"/>
              </a:rPr>
              <a:t>u should be able to CHART IT</a:t>
            </a:r>
            <a:endParaRPr lang="en-US" sz="2600" dirty="0"/>
          </a:p>
        </p:txBody>
      </p:sp>
      <p:sp>
        <p:nvSpPr>
          <p:cNvPr id="9" name="Text 3"/>
          <p:cNvSpPr/>
          <p:nvPr/>
        </p:nvSpPr>
        <p:spPr>
          <a:xfrm rot="-180000">
            <a:off x="9144000" y="6355080"/>
            <a:ext cx="2834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Comic Sans MS" pitchFamily="34" charset="0"/>
                <a:ea typeface="Comic Sans MS" pitchFamily="34" charset="-122"/>
                <a:cs typeface="Comic Sans MS" pitchFamily="34" charset="-120"/>
              </a:rPr>
              <a:t>graphic design is my passion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rot="-120000">
            <a:off x="548640" y="274320"/>
            <a:ext cx="8229600" cy="822960"/>
          </a:xfrm>
          <a:prstGeom prst="rect">
            <a:avLst/>
          </a:prstGeom>
          <a:noFill/>
          <a:ln/>
        </p:spPr>
        <p:txBody>
          <a:bodyPr wrap="square" lIns="0" tIns="0" rIns="0" bIns="0" rtlCol="0" anchor="ctr"/>
          <a:lstStyle/>
          <a:p>
            <a:pPr indent="0" marL="0">
              <a:buNone/>
            </a:pPr>
            <a:r>
              <a:rPr lang="en-US" sz="4400" b="1" dirty="0">
                <a:solidFill>
                  <a:srgbClr val="0000FF"/>
                </a:solidFill>
                <a:latin typeface="Comic Sans MS" pitchFamily="34" charset="0"/>
                <a:ea typeface="Comic Sans MS" pitchFamily="34" charset="-122"/>
                <a:cs typeface="Comic Sans MS" pitchFamily="34" charset="-120"/>
              </a:rPr>
              <a:t>where does my money go??</a:t>
            </a:r>
            <a:endParaRPr lang="en-US" sz="4400" dirty="0"/>
          </a:p>
        </p:txBody>
      </p:sp>
      <p:pic>
        <p:nvPicPr>
          <p:cNvPr id="3" name="Image 0" descr="decorative MS Paint doodle">    </p:cNvPr>
          <p:cNvPicPr>
            <a:picLocks noChangeAspect="1"/>
          </p:cNvPicPr>
          <p:nvPr/>
        </p:nvPicPr>
        <p:blipFill>
          <a:blip r:embed="rId1"/>
          <a:stretch>
            <a:fillRect/>
          </a:stretch>
        </p:blipFill>
        <p:spPr>
          <a:xfrm>
            <a:off x="640080" y="1024128"/>
            <a:ext cx="5120640" cy="411480"/>
          </a:xfrm>
          <a:prstGeom prst="rect">
            <a:avLst/>
          </a:prstGeom>
        </p:spPr>
      </p:pic>
      <p:pic>
        <p:nvPicPr>
          <p:cNvPr id="4" name="Image 1" descr="decorative MS Paint doodle">    </p:cNvPr>
          <p:cNvPicPr>
            <a:picLocks noChangeAspect="1"/>
          </p:cNvPicPr>
          <p:nvPr/>
        </p:nvPicPr>
        <p:blipFill>
          <a:blip r:embed="rId2"/>
          <a:stretch>
            <a:fillRect/>
          </a:stretch>
        </p:blipFill>
        <p:spPr>
          <a:xfrm>
            <a:off x="5897880" y="1600200"/>
            <a:ext cx="365760" cy="4937760"/>
          </a:xfrm>
          <a:prstGeom prst="rect">
            <a:avLst/>
          </a:prstGeom>
        </p:spPr>
      </p:pic>
      <p:pic>
        <p:nvPicPr>
          <p:cNvPr id="5" name="Image 2" descr="decorative MS Paint doodle">    </p:cNvPr>
          <p:cNvPicPr>
            <a:picLocks noChangeAspect="1"/>
          </p:cNvPicPr>
          <p:nvPr/>
        </p:nvPicPr>
        <p:blipFill>
          <a:blip r:embed="rId3"/>
          <a:stretch>
            <a:fillRect/>
          </a:stretch>
        </p:blipFill>
        <p:spPr>
          <a:xfrm>
            <a:off x="411480" y="2240280"/>
            <a:ext cx="1828800" cy="3108960"/>
          </a:xfrm>
          <a:prstGeom prst="rect">
            <a:avLst/>
          </a:prstGeom>
        </p:spPr>
      </p:pic>
      <p:pic>
        <p:nvPicPr>
          <p:cNvPr id="6" name="Image 3" descr="decorative MS Paint doodle">    </p:cNvPr>
          <p:cNvPicPr>
            <a:picLocks noChangeAspect="1"/>
          </p:cNvPicPr>
          <p:nvPr/>
        </p:nvPicPr>
        <p:blipFill>
          <a:blip r:embed="rId4"/>
          <a:stretch>
            <a:fillRect/>
          </a:stretch>
        </p:blipFill>
        <p:spPr>
          <a:xfrm rot="-480000">
            <a:off x="1874520" y="2057400"/>
            <a:ext cx="2377440" cy="1463040"/>
          </a:xfrm>
          <a:prstGeom prst="rect">
            <a:avLst/>
          </a:prstGeom>
        </p:spPr>
      </p:pic>
      <p:pic>
        <p:nvPicPr>
          <p:cNvPr id="7" name="Image 4" descr="decorative MS Paint doodle">    </p:cNvPr>
          <p:cNvPicPr>
            <a:picLocks noChangeAspect="1"/>
          </p:cNvPicPr>
          <p:nvPr/>
        </p:nvPicPr>
        <p:blipFill>
          <a:blip r:embed="rId5"/>
          <a:stretch>
            <a:fillRect/>
          </a:stretch>
        </p:blipFill>
        <p:spPr>
          <a:xfrm>
            <a:off x="2971800" y="2331720"/>
            <a:ext cx="2834640" cy="2834640"/>
          </a:xfrm>
          <a:prstGeom prst="rect">
            <a:avLst/>
          </a:prstGeom>
        </p:spPr>
      </p:pic>
      <p:sp>
        <p:nvSpPr>
          <p:cNvPr id="8" name="Text 1"/>
          <p:cNvSpPr/>
          <p:nvPr/>
        </p:nvSpPr>
        <p:spPr>
          <a:xfrm rot="240000">
            <a:off x="2788920" y="5257800"/>
            <a:ext cx="3108960" cy="548640"/>
          </a:xfrm>
          <a:prstGeom prst="rect">
            <a:avLst/>
          </a:prstGeom>
          <a:noFill/>
          <a:ln/>
        </p:spPr>
        <p:txBody>
          <a:bodyPr wrap="square" lIns="0" tIns="0" rIns="0" bIns="0" rtlCol="0" anchor="ctr"/>
          <a:lstStyle/>
          <a:p>
            <a:pPr algn="ctr" indent="0" marL="0">
              <a:buNone/>
            </a:pPr>
            <a:r>
              <a:rPr lang="en-US" sz="2600" b="1" dirty="0">
                <a:solidFill>
                  <a:srgbClr val="FF0000"/>
                </a:solidFill>
                <a:latin typeface="Comic Sans MS" pitchFamily="34" charset="0"/>
                <a:ea typeface="Comic Sans MS" pitchFamily="34" charset="-122"/>
                <a:cs typeface="Comic Sans MS" pitchFamily="34" charset="-120"/>
              </a:rPr>
              <a:t>CHARITY WEBSITE</a:t>
            </a:r>
            <a:endParaRPr lang="en-US" sz="2600" dirty="0"/>
          </a:p>
        </p:txBody>
      </p:sp>
      <p:sp>
        <p:nvSpPr>
          <p:cNvPr id="9" name="Text 2"/>
          <p:cNvSpPr/>
          <p:nvPr/>
        </p:nvSpPr>
        <p:spPr>
          <a:xfrm rot="-300000">
            <a:off x="365760" y="5440680"/>
            <a:ext cx="182880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omic Sans MS" pitchFamily="34" charset="0"/>
                <a:ea typeface="Comic Sans MS" pitchFamily="34" charset="-122"/>
                <a:cs typeface="Comic Sans MS" pitchFamily="34" charset="-120"/>
              </a:rPr>
              <a:t>*donates*</a:t>
            </a:r>
            <a:endParaRPr lang="en-US" sz="2000" dirty="0"/>
          </a:p>
        </p:txBody>
      </p:sp>
      <p:pic>
        <p:nvPicPr>
          <p:cNvPr id="10" name="Image 5" descr="decorative MS Paint doodle">    </p:cNvPr>
          <p:cNvPicPr>
            <a:picLocks noChangeAspect="1"/>
          </p:cNvPicPr>
          <p:nvPr/>
        </p:nvPicPr>
        <p:blipFill>
          <a:blip r:embed="rId6"/>
          <a:stretch>
            <a:fillRect/>
          </a:stretch>
        </p:blipFill>
        <p:spPr>
          <a:xfrm>
            <a:off x="6446520" y="2240280"/>
            <a:ext cx="1828800" cy="3108960"/>
          </a:xfrm>
          <a:prstGeom prst="rect">
            <a:avLst/>
          </a:prstGeom>
        </p:spPr>
      </p:pic>
      <p:pic>
        <p:nvPicPr>
          <p:cNvPr id="11" name="Image 6" descr="decorative MS Paint doodle">    </p:cNvPr>
          <p:cNvPicPr>
            <a:picLocks noChangeAspect="1"/>
          </p:cNvPicPr>
          <p:nvPr/>
        </p:nvPicPr>
        <p:blipFill>
          <a:blip r:embed="rId7"/>
          <a:stretch>
            <a:fillRect/>
          </a:stretch>
        </p:blipFill>
        <p:spPr>
          <a:xfrm rot="720000">
            <a:off x="8092440" y="1691640"/>
            <a:ext cx="822960" cy="1005840"/>
          </a:xfrm>
          <a:prstGeom prst="rect">
            <a:avLst/>
          </a:prstGeom>
        </p:spPr>
      </p:pic>
      <p:pic>
        <p:nvPicPr>
          <p:cNvPr id="12" name="Image 7" descr="decorative MS Paint doodle">    </p:cNvPr>
          <p:cNvPicPr>
            <a:picLocks noChangeAspect="1"/>
          </p:cNvPicPr>
          <p:nvPr/>
        </p:nvPicPr>
        <p:blipFill>
          <a:blip r:embed="rId8"/>
          <a:stretch>
            <a:fillRect/>
          </a:stretch>
        </p:blipFill>
        <p:spPr>
          <a:xfrm>
            <a:off x="9006840" y="2331720"/>
            <a:ext cx="2834640" cy="2834640"/>
          </a:xfrm>
          <a:prstGeom prst="rect">
            <a:avLst/>
          </a:prstGeom>
        </p:spPr>
      </p:pic>
      <p:sp>
        <p:nvSpPr>
          <p:cNvPr id="13" name="Text 3"/>
          <p:cNvSpPr/>
          <p:nvPr/>
        </p:nvSpPr>
        <p:spPr>
          <a:xfrm rot="-180000">
            <a:off x="8823960" y="5257800"/>
            <a:ext cx="3108960" cy="548640"/>
          </a:xfrm>
          <a:prstGeom prst="rect">
            <a:avLst/>
          </a:prstGeom>
          <a:noFill/>
          <a:ln/>
        </p:spPr>
        <p:txBody>
          <a:bodyPr wrap="square" lIns="0" tIns="0" rIns="0" bIns="0" rtlCol="0" anchor="ctr"/>
          <a:lstStyle/>
          <a:p>
            <a:pPr algn="ctr" indent="0" marL="0">
              <a:buNone/>
            </a:pPr>
            <a:r>
              <a:rPr lang="en-US" sz="2600" b="1" dirty="0">
                <a:solidFill>
                  <a:srgbClr val="FF0000"/>
                </a:solidFill>
                <a:latin typeface="Comic Sans MS" pitchFamily="34" charset="0"/>
                <a:ea typeface="Comic Sans MS" pitchFamily="34" charset="-122"/>
                <a:cs typeface="Comic Sans MS" pitchFamily="34" charset="-120"/>
              </a:rPr>
              <a:t>CHARITY WEBSITE</a:t>
            </a:r>
            <a:endParaRPr lang="en-US" sz="2600" dirty="0"/>
          </a:p>
        </p:txBody>
      </p:sp>
      <p:sp>
        <p:nvSpPr>
          <p:cNvPr id="14" name="Text 4"/>
          <p:cNvSpPr/>
          <p:nvPr/>
        </p:nvSpPr>
        <p:spPr>
          <a:xfrm rot="180000">
            <a:off x="6583680" y="1234440"/>
            <a:ext cx="4206240" cy="640080"/>
          </a:xfrm>
          <a:prstGeom prst="rect">
            <a:avLst/>
          </a:prstGeom>
          <a:solidFill>
            <a:srgbClr val="FFFF00"/>
          </a:solidFill>
          <a:ln/>
        </p:spPr>
        <p:txBody>
          <a:bodyPr wrap="square" lIns="0" tIns="0" rIns="0" bIns="0" rtlCol="0" anchor="ctr"/>
          <a:lstStyle/>
          <a:p>
            <a:pPr algn="ctr" indent="0" marL="0">
              <a:buNone/>
            </a:pPr>
            <a:r>
              <a:rPr lang="en-US" sz="3400" b="1" dirty="0">
                <a:solidFill>
                  <a:srgbClr val="000000"/>
                </a:solidFill>
                <a:latin typeface="Comic Sans MS" pitchFamily="34" charset="0"/>
                <a:ea typeface="Comic Sans MS" pitchFamily="34" charset="-122"/>
                <a:cs typeface="Comic Sans MS" pitchFamily="34" charset="-120"/>
              </a:rPr>
              <a:t>1 MONTH LATER</a:t>
            </a:r>
            <a:endParaRPr lang="en-US" sz="3400" dirty="0"/>
          </a:p>
        </p:txBody>
      </p:sp>
      <p:sp>
        <p:nvSpPr>
          <p:cNvPr id="15" name="Text 5"/>
          <p:cNvSpPr/>
          <p:nvPr/>
        </p:nvSpPr>
        <p:spPr>
          <a:xfrm rot="240000">
            <a:off x="6400800" y="5440680"/>
            <a:ext cx="20116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omic Sans MS" pitchFamily="34" charset="0"/>
                <a:ea typeface="Comic Sans MS" pitchFamily="34" charset="-122"/>
                <a:cs typeface="Comic Sans MS" pitchFamily="34" charset="-120"/>
              </a:rPr>
              <a:t>...hello??</a:t>
            </a:r>
            <a:endParaRPr lang="en-US" sz="2000" dirty="0"/>
          </a:p>
        </p:txBody>
      </p:sp>
      <p:sp>
        <p:nvSpPr>
          <p:cNvPr id="16" name="Text 6"/>
          <p:cNvSpPr/>
          <p:nvPr/>
        </p:nvSpPr>
        <p:spPr>
          <a:xfrm rot="-180000">
            <a:off x="9144000" y="6355080"/>
            <a:ext cx="2834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Comic Sans MS" pitchFamily="34" charset="0"/>
                <a:ea typeface="Comic Sans MS" pitchFamily="34" charset="-122"/>
                <a:cs typeface="Comic Sans MS" pitchFamily="34" charset="-120"/>
              </a:rPr>
              <a:t>graphic design is my passion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rot="-120000">
            <a:off x="548640" y="274320"/>
            <a:ext cx="8686800" cy="822960"/>
          </a:xfrm>
          <a:prstGeom prst="rect">
            <a:avLst/>
          </a:prstGeom>
          <a:noFill/>
          <a:ln/>
        </p:spPr>
        <p:txBody>
          <a:bodyPr wrap="square" lIns="0" tIns="0" rIns="0" bIns="0" rtlCol="0" anchor="ctr"/>
          <a:lstStyle/>
          <a:p>
            <a:pPr indent="0" marL="0">
              <a:buNone/>
            </a:pPr>
            <a:r>
              <a:rPr lang="en-US" sz="4400" b="1" dirty="0">
                <a:solidFill>
                  <a:srgbClr val="FF0000"/>
                </a:solidFill>
                <a:latin typeface="Comic Sans MS" pitchFamily="34" charset="0"/>
                <a:ea typeface="Comic Sans MS" pitchFamily="34" charset="-122"/>
                <a:cs typeface="Comic Sans MS" pitchFamily="34" charset="-120"/>
              </a:rPr>
              <a:t>the bucket is LEAKING</a:t>
            </a:r>
            <a:endParaRPr lang="en-US" sz="4400" dirty="0"/>
          </a:p>
        </p:txBody>
      </p:sp>
      <p:pic>
        <p:nvPicPr>
          <p:cNvPr id="3" name="Image 0" descr="decorative MS Paint doodle">    </p:cNvPr>
          <p:cNvPicPr>
            <a:picLocks noChangeAspect="1"/>
          </p:cNvPicPr>
          <p:nvPr/>
        </p:nvPicPr>
        <p:blipFill>
          <a:blip r:embed="rId1"/>
          <a:stretch>
            <a:fillRect/>
          </a:stretch>
        </p:blipFill>
        <p:spPr>
          <a:xfrm>
            <a:off x="640080" y="1024128"/>
            <a:ext cx="5486400" cy="411480"/>
          </a:xfrm>
          <a:prstGeom prst="rect">
            <a:avLst/>
          </a:prstGeom>
        </p:spPr>
      </p:pic>
      <p:pic>
        <p:nvPicPr>
          <p:cNvPr id="4" name="Image 1" descr="decorative MS Paint doodle">    </p:cNvPr>
          <p:cNvPicPr>
            <a:picLocks noChangeAspect="1"/>
          </p:cNvPicPr>
          <p:nvPr/>
        </p:nvPicPr>
        <p:blipFill>
          <a:blip r:embed="rId2"/>
          <a:stretch>
            <a:fillRect/>
          </a:stretch>
        </p:blipFill>
        <p:spPr>
          <a:xfrm>
            <a:off x="10058400" y="91440"/>
            <a:ext cx="1828800" cy="1371600"/>
          </a:xfrm>
          <a:prstGeom prst="rect">
            <a:avLst/>
          </a:prstGeom>
        </p:spPr>
      </p:pic>
      <p:pic>
        <p:nvPicPr>
          <p:cNvPr id="20" name="Leaky bucket">    </p:cNvPr>
          <p:cNvPicPr>
            <a:picLocks noChangeAspect="1"/>
          </p:cNvPicPr>
          <p:nvPr/>
        </p:nvPicPr>
        <p:blipFill>
          <a:blip r:embed="rIdG1a"/>
          <a:stretch>
            <a:fillRect/>
          </a:stretch>
        </p:blipFill>
        <p:spPr>
          <a:xfrm>
            <a:off x="320040" y="1371600"/>
            <a:ext cx="4389120" cy="3511296"/>
          </a:xfrm>
          <a:prstGeom prst="rect">
            <a:avLst/>
          </a:prstGeom>
        </p:spPr>
      </p:pic>
      <p:pic>
        <p:nvPicPr>
          <p:cNvPr id="22" name="FEP retention chart screenshot" descr="Fundraising Effectiveness Project chart: year-to-date donor retention rates 2021-2025, 43.3% in 2025 (with joke CapCut.com and Activate Windows watermarks)">    </p:cNvPr>
          <p:cNvPicPr>
            <a:picLocks noChangeAspect="1"/>
          </p:cNvPicPr>
          <p:nvPr/>
        </p:nvPicPr>
        <p:blipFill>
          <a:blip r:embed="rIdG1d"/>
          <a:stretch>
            <a:fillRect/>
          </a:stretch>
        </p:blipFill>
        <p:spPr>
          <a:xfrm rot="-120000">
            <a:off x="6309360" y="1188720"/>
            <a:ext cx="5394960" cy="3304859"/>
          </a:xfrm>
          <a:prstGeom prst="rect">
            <a:avLst/>
          </a:prstGeom>
          <a:ln w="28575">
            <a:solidFill>
              <a:srgbClr val="000000"/>
            </a:solidFill>
          </a:ln>
        </p:spPr>
      </p:pic>
      <p:sp>
        <p:nvSpPr>
          <p:cNvPr id="6" name="Text 2"/>
          <p:cNvSpPr/>
          <p:nvPr/>
        </p:nvSpPr>
        <p:spPr>
          <a:xfrm rot="-120000">
            <a:off x="502920" y="4937760"/>
            <a:ext cx="2468880" cy="1051560"/>
          </a:xfrm>
          <a:prstGeom prst="rect">
            <a:avLst/>
          </a:prstGeom>
          <a:solidFill>
            <a:srgbClr val="FFFF00"/>
          </a:solidFill>
          <a:ln w="50800">
            <a:solidFill>
              <a:srgbClr val="FF0000"/>
            </a:solidFill>
          </a:ln>
        </p:spPr>
        <p:txBody>
          <a:bodyPr wrap="square" lIns="0" tIns="0" rIns="0" bIns="0" rtlCol="0" anchor="ctr"/>
          <a:lstStyle/>
          <a:p>
            <a:pPr algn="ctr" indent="0" marL="0">
              <a:buNone/>
            </a:pPr>
            <a:r>
              <a:rPr lang="en-US" sz="5400" b="1" dirty="0">
                <a:solidFill>
                  <a:srgbClr val="000000"/>
                </a:solidFill>
                <a:latin typeface="Comic Sans MS" pitchFamily="34" charset="0"/>
                <a:ea typeface="Comic Sans MS" pitchFamily="34" charset="-122"/>
                <a:cs typeface="Comic Sans MS" pitchFamily="34" charset="-120"/>
              </a:rPr>
              <a:t>43.3%</a:t>
            </a:r>
            <a:endParaRPr lang="en-US" sz="5400" dirty="0"/>
          </a:p>
        </p:txBody>
      </p:sp>
      <p:sp>
        <p:nvSpPr>
          <p:cNvPr id="7" name="Text 3"/>
          <p:cNvSpPr/>
          <p:nvPr/>
        </p:nvSpPr>
        <p:spPr>
          <a:xfrm rot="-90000">
            <a:off x="3108960" y="5029200"/>
            <a:ext cx="2743200" cy="1097280"/>
          </a:xfrm>
          <a:prstGeom prst="rect">
            <a:avLst/>
          </a:prstGeom>
          <a:noFill/>
          <a:ln/>
        </p:spPr>
        <p:txBody>
          <a:bodyPr wrap="square" lIns="0" tIns="0" rIns="0" bIns="0" rtlCol="0" anchor="ctr"/>
          <a:lstStyle/>
          <a:p>
            <a:pPr indent="0" marL="0">
              <a:buNone/>
            </a:pPr>
            <a:r>
              <a:rPr lang="en-US" sz="2200" b="1" dirty="0">
                <a:solidFill>
                  <a:srgbClr val="0000FF"/>
                </a:solidFill>
                <a:latin typeface="Comic Sans MS" pitchFamily="34" charset="0"/>
                <a:ea typeface="Comic Sans MS" pitchFamily="34" charset="-122"/>
                <a:cs typeface="Comic Sans MS" pitchFamily="34" charset="-120"/>
              </a:rPr>
              <a:t>less than half of</a:t>
            </a:r>
            <a:endParaRPr lang="en-US" sz="2200" dirty="0"/>
          </a:p>
          <a:p>
            <a:pPr indent="0" marL="0">
              <a:buNone/>
            </a:pPr>
            <a:r>
              <a:rPr lang="en-US" sz="2600" b="1" dirty="0">
                <a:solidFill>
                  <a:srgbClr val="0000FF"/>
                </a:solidFill>
                <a:latin typeface="Comic Sans MS" pitchFamily="34" charset="0"/>
                <a:ea typeface="Comic Sans MS" pitchFamily="34" charset="-122"/>
                <a:cs typeface="Comic Sans MS" pitchFamily="34" charset="-120"/>
              </a:rPr>
              <a:t>donors give again</a:t>
            </a:r>
            <a:endParaRPr lang="en-US" sz="2600" dirty="0"/>
          </a:p>
        </p:txBody>
      </p:sp>
      <p:sp>
        <p:nvSpPr>
          <p:cNvPr id="23" name="Source caption"/>
          <p:cNvSpPr/>
          <p:nvPr/>
        </p:nvSpPr>
        <p:spPr>
          <a:xfrm rot="-60000">
            <a:off x="6355080" y="4553712"/>
            <a:ext cx="4206240" cy="365760"/>
          </a:xfrm>
          <a:prstGeom prst="rect">
            <a:avLst/>
          </a:prstGeom>
          <a:noFill/>
          <a:ln/>
        </p:spPr>
        <p:txBody>
          <a:bodyPr wrap="square" lIns="0" tIns="0" rIns="0" bIns="0" rtlCol="0" anchor="ctr"/>
          <a:lstStyle/>
          <a:p>
            <a:pPr algn="l" indent="0" marL="0">
              <a:buNone/>
            </a:pPr>
            <a:r>
              <a:rPr lang="en-US" sz="1400" dirty="0">
                <a:solidFill>
                  <a:srgbClr val="000000"/>
                </a:solidFill>
                <a:latin typeface="Comic Sans MS" pitchFamily="34" charset="0"/>
                <a:ea typeface="Comic Sans MS" pitchFamily="34" charset="-122"/>
                <a:cs typeface="Comic Sans MS" pitchFamily="34" charset="-120"/>
              </a:rPr>
              <a:t>source: Fundraising Effectiveness Project, Q4 2025</a:t>
            </a:r>
            <a:endParaRPr lang="en-US" sz="1400" dirty="0"/>
          </a:p>
        </p:txBody>
      </p:sp>
      <p:sp>
        <p:nvSpPr>
          <p:cNvPr id="30" name="Money lost stat"/>
          <p:cNvSpPr/>
          <p:nvPr/>
        </p:nvSpPr>
        <p:spPr>
          <a:xfrm rot="-120000">
            <a:off x="5943600" y="4937760"/>
            <a:ext cx="2971800" cy="1325880"/>
          </a:xfrm>
          <a:prstGeom prst="rect">
            <a:avLst/>
          </a:prstGeom>
          <a:noFill/>
          <a:ln/>
        </p:spPr>
        <p:txBody>
          <a:bodyPr wrap="square" lIns="45720" tIns="0" rIns="45720" bIns="0" rtlCol="0" anchor="t">
            <a:normAutofit/>
          </a:bodyPr>
          <a:lstStyle/>
          <a:p>
            <a:pPr algn="l" indent="0" marL="0">
              <a:buNone/>
            </a:pPr>
            <a:r>
              <a:rPr lang="en-US" sz="2800" b="1" dirty="0">
                <a:solidFill>
                  <a:srgbClr val="FF0000"/>
                </a:solidFill>
                <a:latin typeface="Comic Sans MS" pitchFamily="34" charset="0"/>
                <a:ea typeface="Comic Sans MS" pitchFamily="34" charset="-122"/>
                <a:cs typeface="Comic Sans MS" pitchFamily="34" charset="-120"/>
              </a:rPr>
              <a:t>$4.6 BILLION</a:t>
            </a:r>
          </a:p>
          <a:p>
            <a:pPr algn="l" indent="0" marL="0">
              <a:buNone/>
            </a:pPr>
            <a:r>
              <a:rPr lang="en-US" sz="1200" b="1" dirty="0">
                <a:solidFill>
                  <a:srgbClr val="000000"/>
                </a:solidFill>
                <a:latin typeface="Comic Sans MS" pitchFamily="34" charset="0"/>
                <a:ea typeface="Comic Sans MS" pitchFamily="34" charset="-122"/>
                <a:cs typeface="Comic Sans MS" pitchFamily="34" charset="-120"/>
              </a:rPr>
              <a:t>lost in 1 yr to donors who left or gave less (just 10,640 charities!!)</a:t>
            </a:r>
          </a:p>
          <a:p>
            <a:pPr algn="l" indent="0" marL="0">
              <a:buNone/>
            </a:pPr>
            <a:r>
              <a:rPr lang="en-US" sz="900" b="0" dirty="0">
                <a:solidFill>
                  <a:srgbClr val="000000"/>
                </a:solidFill>
                <a:latin typeface="Comic Sans MS" pitchFamily="34" charset="0"/>
                <a:ea typeface="Comic Sans MS" pitchFamily="34" charset="-122"/>
                <a:cs typeface="Comic Sans MS" pitchFamily="34" charset="-120"/>
              </a:rPr>
              <a:t>source: Fundraising Effectiveness Project 2019 report (2018 data)</a:t>
            </a:r>
          </a:p>
        </p:txBody>
      </p:sp>
      <p:sp>
        <p:nvSpPr>
          <p:cNvPr id="31" name="Charity count stat"/>
          <p:cNvSpPr/>
          <p:nvPr/>
        </p:nvSpPr>
        <p:spPr>
          <a:xfrm rot="90000">
            <a:off x="9006840" y="4892040"/>
            <a:ext cx="2926080" cy="1325880"/>
          </a:xfrm>
          <a:prstGeom prst="rect">
            <a:avLst/>
          </a:prstGeom>
          <a:noFill/>
          <a:ln/>
        </p:spPr>
        <p:txBody>
          <a:bodyPr wrap="square" lIns="45720" tIns="0" rIns="45720" bIns="0" rtlCol="0" anchor="t">
            <a:normAutofit/>
          </a:bodyPr>
          <a:lstStyle/>
          <a:p>
            <a:pPr algn="l" indent="0" marL="0">
              <a:buNone/>
            </a:pPr>
            <a:r>
              <a:rPr lang="en-US" sz="2800" b="1" dirty="0">
                <a:solidFill>
                  <a:srgbClr val="0000FF"/>
                </a:solidFill>
                <a:latin typeface="Comic Sans MS" pitchFamily="34" charset="0"/>
                <a:ea typeface="Comic Sans MS" pitchFamily="34" charset="-122"/>
                <a:cs typeface="Comic Sans MS" pitchFamily="34" charset="-120"/>
              </a:rPr>
              <a:t>~1.6 MILLION</a:t>
            </a:r>
          </a:p>
          <a:p>
            <a:pPr algn="l" indent="0" marL="0">
              <a:buNone/>
            </a:pPr>
            <a:r>
              <a:rPr lang="en-US" sz="1200" b="1" dirty="0">
                <a:solidFill>
                  <a:srgbClr val="000000"/>
                </a:solidFill>
                <a:latin typeface="Comic Sans MS" pitchFamily="34" charset="0"/>
                <a:ea typeface="Comic Sans MS" pitchFamily="34" charset="-122"/>
                <a:cs typeface="Comic Sans MS" pitchFamily="34" charset="-120"/>
              </a:rPr>
              <a:t>US charities w/ a bucket we could plug</a:t>
            </a:r>
          </a:p>
          <a:p>
            <a:pPr algn="l" indent="0" marL="0">
              <a:buNone/>
            </a:pPr>
            <a:r>
              <a:rPr lang="en-US" sz="900" b="0" dirty="0">
                <a:solidFill>
                  <a:srgbClr val="000000"/>
                </a:solidFill>
                <a:latin typeface="Comic Sans MS" pitchFamily="34" charset="0"/>
                <a:ea typeface="Comic Sans MS" pitchFamily="34" charset="-122"/>
                <a:cs typeface="Comic Sans MS" pitchFamily="34" charset="-120"/>
              </a:rPr>
              <a:t>source: IRS Data Book FY2025, 501(c)(3) orgs</a:t>
            </a:r>
          </a:p>
        </p:txBody>
      </p:sp>
      <p:sp>
        <p:nvSpPr>
          <p:cNvPr id="9" name="Text 4"/>
          <p:cNvSpPr/>
          <p:nvPr/>
        </p:nvSpPr>
        <p:spPr>
          <a:xfrm rot="-180000">
            <a:off x="9144000" y="6355080"/>
            <a:ext cx="2834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Comic Sans MS" pitchFamily="34" charset="0"/>
                <a:ea typeface="Comic Sans MS" pitchFamily="34" charset="-122"/>
                <a:cs typeface="Comic Sans MS" pitchFamily="34" charset="-120"/>
              </a:rPr>
              <a:t>graphic design is my passion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rot="-180000">
            <a:off x="548640" y="274320"/>
            <a:ext cx="5486400" cy="822960"/>
          </a:xfrm>
          <a:prstGeom prst="rect">
            <a:avLst/>
          </a:prstGeom>
          <a:noFill/>
          <a:ln/>
        </p:spPr>
        <p:txBody>
          <a:bodyPr wrap="square" lIns="0" tIns="0" rIns="0" bIns="0" rtlCol="0" anchor="ctr"/>
          <a:lstStyle/>
          <a:p>
            <a:pPr indent="0" marL="0">
              <a:buNone/>
            </a:pPr>
            <a:r>
              <a:rPr lang="en-US" sz="4800" b="1" dirty="0">
                <a:solidFill>
                  <a:srgbClr val="00C800"/>
                </a:solidFill>
                <a:latin typeface="Comic Sans MS" pitchFamily="34" charset="0"/>
                <a:ea typeface="Comic Sans MS" pitchFamily="34" charset="-122"/>
                <a:cs typeface="Comic Sans MS" pitchFamily="34" charset="-120"/>
              </a:rPr>
              <a:t>THE FIX</a:t>
            </a:r>
            <a:endParaRPr lang="en-US" sz="4800" dirty="0"/>
          </a:p>
        </p:txBody>
      </p:sp>
      <p:pic>
        <p:nvPicPr>
          <p:cNvPr id="3" name="Image 0" descr="decorative MS Paint doodle">    </p:cNvPr>
          <p:cNvPicPr>
            <a:picLocks noChangeAspect="1"/>
          </p:cNvPicPr>
          <p:nvPr/>
        </p:nvPicPr>
        <p:blipFill>
          <a:blip r:embed="rId1"/>
          <a:stretch>
            <a:fillRect/>
          </a:stretch>
        </p:blipFill>
        <p:spPr>
          <a:xfrm>
            <a:off x="731520" y="1554480"/>
            <a:ext cx="3474720" cy="3474720"/>
          </a:xfrm>
          <a:prstGeom prst="rect">
            <a:avLst/>
          </a:prstGeom>
        </p:spPr>
      </p:pic>
      <p:sp>
        <p:nvSpPr>
          <p:cNvPr id="4" name="Shape 1"/>
          <p:cNvSpPr/>
          <p:nvPr/>
        </p:nvSpPr>
        <p:spPr>
          <a:xfrm>
            <a:off x="548640" y="1463040"/>
            <a:ext cx="3840480" cy="3657600"/>
          </a:xfrm>
          <a:prstGeom prst="line">
            <a:avLst/>
          </a:prstGeom>
          <a:noFill/>
          <a:ln w="177800">
            <a:solidFill>
              <a:srgbClr val="FF0000"/>
            </a:solidFill>
            <a:prstDash val="solid"/>
          </a:ln>
        </p:spPr>
      </p:sp>
      <p:pic>
        <p:nvPicPr>
          <p:cNvPr id="5" name="Image 1" descr="decorative MS Paint doodle">    </p:cNvPr>
          <p:cNvPicPr>
            <a:picLocks noChangeAspect="1"/>
          </p:cNvPicPr>
          <p:nvPr/>
        </p:nvPicPr>
        <p:blipFill>
          <a:blip r:embed="rId2"/>
          <a:stretch>
            <a:fillRect/>
          </a:stretch>
        </p:blipFill>
        <p:spPr>
          <a:xfrm>
            <a:off x="4389120" y="2743200"/>
            <a:ext cx="1645920" cy="914400"/>
          </a:xfrm>
          <a:prstGeom prst="rect">
            <a:avLst/>
          </a:prstGeom>
        </p:spPr>
      </p:pic>
      <p:sp>
        <p:nvSpPr>
          <p:cNvPr id="6" name="Shape 2"/>
          <p:cNvSpPr/>
          <p:nvPr/>
        </p:nvSpPr>
        <p:spPr>
          <a:xfrm rot="120000">
            <a:off x="6309360" y="1371600"/>
            <a:ext cx="5303520" cy="3931920"/>
          </a:xfrm>
          <a:prstGeom prst="rect">
            <a:avLst/>
          </a:prstGeom>
          <a:solidFill>
            <a:srgbClr val="FFFFFF"/>
          </a:solidFill>
          <a:ln w="50800">
            <a:solidFill>
              <a:srgbClr val="000000"/>
            </a:solidFill>
            <a:prstDash val="solid"/>
          </a:ln>
        </p:spPr>
      </p:sp>
      <p:sp>
        <p:nvSpPr>
          <p:cNvPr id="7" name="Shape 3"/>
          <p:cNvSpPr/>
          <p:nvPr/>
        </p:nvSpPr>
        <p:spPr>
          <a:xfrm rot="120000">
            <a:off x="6309360" y="1371600"/>
            <a:ext cx="5303520" cy="502920"/>
          </a:xfrm>
          <a:prstGeom prst="rect">
            <a:avLst/>
          </a:prstGeom>
          <a:solidFill>
            <a:srgbClr val="0000FF"/>
          </a:solidFill>
          <a:ln w="50800">
            <a:solidFill>
              <a:srgbClr val="000000"/>
            </a:solidFill>
            <a:prstDash val="solid"/>
          </a:ln>
        </p:spPr>
      </p:sp>
      <p:sp>
        <p:nvSpPr>
          <p:cNvPr id="8" name="Text 4"/>
          <p:cNvSpPr/>
          <p:nvPr/>
        </p:nvSpPr>
        <p:spPr>
          <a:xfrm rot="120000">
            <a:off x="6446520" y="1389888"/>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Comic Sans MS" pitchFamily="34" charset="0"/>
                <a:ea typeface="Comic Sans MS" pitchFamily="34" charset="-122"/>
                <a:cs typeface="Comic Sans MS" pitchFamily="34" charset="-120"/>
              </a:rPr>
              <a:t>CHARTITABLE</a:t>
            </a:r>
            <a:endParaRPr lang="en-US" sz="2000" dirty="0"/>
          </a:p>
        </p:txBody>
      </p:sp>
      <p:pic>
        <p:nvPicPr>
          <p:cNvPr id="20" name="Window doodle">    </p:cNvPr>
          <p:cNvPicPr>
            <a:picLocks noChangeAspect="1"/>
          </p:cNvPicPr>
          <p:nvPr/>
        </p:nvPicPr>
        <p:blipFill>
          <a:blip r:embed="rIdG1b"/>
          <a:stretch>
            <a:fillRect/>
          </a:stretch>
        </p:blipFill>
        <p:spPr>
          <a:xfrm>
            <a:off x="6766560" y="2148840"/>
            <a:ext cx="4389120" cy="2560320"/>
          </a:xfrm>
          <a:prstGeom prst="rect">
            <a:avLst/>
          </a:prstGeom>
        </p:spPr>
      </p:pic>
      <p:pic>
        <p:nvPicPr>
          <p:cNvPr id="21" name="Smiley sun">    </p:cNvPr>
          <p:cNvPicPr>
            <a:picLocks noChangeAspect="1"/>
          </p:cNvPicPr>
          <p:nvPr/>
        </p:nvPicPr>
        <p:blipFill>
          <a:blip r:embed="rIdG1c"/>
          <a:stretch>
            <a:fillRect/>
          </a:stretch>
        </p:blipFill>
        <p:spPr>
          <a:xfrm>
            <a:off x="10378440" y="137160"/>
            <a:ext cx="1554480" cy="1554480"/>
          </a:xfrm>
          <a:prstGeom prst="rect">
            <a:avLst/>
          </a:prstGeom>
        </p:spPr>
      </p:pic>
      <p:sp>
        <p:nvSpPr>
          <p:cNvPr id="11" name="Text 7"/>
          <p:cNvSpPr/>
          <p:nvPr/>
        </p:nvSpPr>
        <p:spPr>
          <a:xfrm rot="-60000">
            <a:off x="914400" y="5486400"/>
            <a:ext cx="10058400" cy="731520"/>
          </a:xfrm>
          <a:prstGeom prst="rect">
            <a:avLst/>
          </a:prstGeom>
          <a:noFill/>
          <a:ln/>
        </p:spPr>
        <p:txBody>
          <a:bodyPr wrap="square" lIns="0" tIns="0" rIns="0" bIns="0" rtlCol="0" anchor="ctr"/>
          <a:lstStyle/>
          <a:p>
            <a:pPr algn="ctr" indent="0" marL="0">
              <a:buNone/>
            </a:pPr>
            <a:r>
              <a:rPr lang="en-US" sz="3000" b="1" dirty="0">
                <a:solidFill>
                  <a:srgbClr val="0000FF"/>
                </a:solidFill>
                <a:latin typeface="Comic Sans MS" pitchFamily="34" charset="0"/>
                <a:ea typeface="Comic Sans MS" pitchFamily="34" charset="-122"/>
                <a:cs typeface="Comic Sans MS" pitchFamily="34" charset="-120"/>
              </a:rPr>
              <a:t>you actually get to see what your money did</a:t>
            </a:r>
            <a:endParaRPr lang="en-US" sz="3000" dirty="0"/>
          </a:p>
        </p:txBody>
      </p:sp>
      <p:sp>
        <p:nvSpPr>
          <p:cNvPr id="12" name="Text 8"/>
          <p:cNvSpPr/>
          <p:nvPr/>
        </p:nvSpPr>
        <p:spPr>
          <a:xfrm rot="-180000">
            <a:off x="9144000" y="6355080"/>
            <a:ext cx="2834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Comic Sans MS" pitchFamily="34" charset="0"/>
                <a:ea typeface="Comic Sans MS" pitchFamily="34" charset="-122"/>
                <a:cs typeface="Comic Sans MS" pitchFamily="34" charset="-120"/>
              </a:rPr>
              <a:t>graphic design is my passion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decorative MS Paint doodle">    </p:cNvPr>
          <p:cNvPicPr>
            <a:picLocks noChangeAspect="1"/>
          </p:cNvPicPr>
          <p:nvPr/>
        </p:nvPicPr>
        <p:blipFill>
          <a:blip r:embed="rId1"/>
          <a:stretch>
            <a:fillRect/>
          </a:stretch>
        </p:blipFill>
        <p:spPr>
          <a:xfrm>
            <a:off x="274320" y="274320"/>
            <a:ext cx="2377440" cy="1737360"/>
          </a:xfrm>
          <a:prstGeom prst="rect">
            <a:avLst/>
          </a:prstGeom>
        </p:spPr>
      </p:pic>
      <p:pic>
        <p:nvPicPr>
          <p:cNvPr id="3" name="Image 1" descr="decorative MS Paint doodle">    </p:cNvPr>
          <p:cNvPicPr>
            <a:picLocks noChangeAspect="1"/>
          </p:cNvPicPr>
          <p:nvPr/>
        </p:nvPicPr>
        <p:blipFill>
          <a:blip r:embed="rId2"/>
          <a:stretch>
            <a:fillRect/>
          </a:stretch>
        </p:blipFill>
        <p:spPr>
          <a:xfrm>
            <a:off x="9509760" y="4572000"/>
            <a:ext cx="2377440" cy="1737360"/>
          </a:xfrm>
          <a:prstGeom prst="rect">
            <a:avLst/>
          </a:prstGeom>
        </p:spPr>
      </p:pic>
      <p:pic>
        <p:nvPicPr>
          <p:cNvPr id="4" name="Image 2" descr="decorative MS Paint doodle">    </p:cNvPr>
          <p:cNvPicPr>
            <a:picLocks noChangeAspect="1"/>
          </p:cNvPicPr>
          <p:nvPr/>
        </p:nvPicPr>
        <p:blipFill>
          <a:blip r:embed="rId3"/>
          <a:stretch>
            <a:fillRect/>
          </a:stretch>
        </p:blipFill>
        <p:spPr>
          <a:xfrm>
            <a:off x="9692640" y="365760"/>
            <a:ext cx="2011680" cy="1463040"/>
          </a:xfrm>
          <a:prstGeom prst="rect">
            <a:avLst/>
          </a:prstGeom>
        </p:spPr>
      </p:pic>
      <p:sp>
        <p:nvSpPr>
          <p:cNvPr id="5" name="Text 0"/>
          <p:cNvSpPr/>
          <p:nvPr/>
        </p:nvSpPr>
        <p:spPr>
          <a:xfrm rot="-480000">
            <a:off x="914400" y="2011680"/>
            <a:ext cx="10332720" cy="2377440"/>
          </a:xfrm>
          <a:prstGeom prst="rect">
            <a:avLst/>
          </a:prstGeom>
          <a:noFill/>
          <a:ln/>
        </p:spPr>
        <p:txBody>
          <a:bodyPr wrap="square" lIns="0" tIns="0" rIns="0" bIns="0" rtlCol="0" anchor="ctr"/>
          <a:lstStyle/>
          <a:p>
            <a:pPr algn="ctr" indent="0" marL="0">
              <a:buNone/>
            </a:pPr>
            <a:r>
              <a:rPr lang="en-US" sz="14000" b="1" dirty="0">
                <a:ln w="38100">
                  <a:solidFill>
                    <a:srgbClr val="000000"/>
                  </a:solidFill>
                </a:ln>
                <a:solidFill>
                  <a:srgbClr val="FF0000"/>
                </a:solidFill>
                <a:latin typeface="Comic Sans MS" pitchFamily="34" charset="0"/>
                <a:ea typeface="Comic Sans MS" pitchFamily="34" charset="-122"/>
                <a:cs typeface="Comic Sans MS" pitchFamily="34" charset="-120"/>
              </a:rPr>
              <a:t>D</a:t>
            </a:r>
            <a:r>
              <a:rPr lang="en-US" sz="14000" b="1" dirty="0">
                <a:ln w="38100">
                  <a:solidFill>
                    <a:srgbClr val="000000"/>
                  </a:solidFill>
                </a:ln>
                <a:solidFill>
                  <a:srgbClr val="FF8000"/>
                </a:solidFill>
                <a:latin typeface="Comic Sans MS" pitchFamily="34" charset="0"/>
                <a:ea typeface="Comic Sans MS" pitchFamily="34" charset="-122"/>
                <a:cs typeface="Comic Sans MS" pitchFamily="34" charset="-120"/>
              </a:rPr>
              <a:t>E</a:t>
            </a:r>
            <a:r>
              <a:rPr lang="en-US" sz="14000" b="1" dirty="0">
                <a:ln w="38100">
                  <a:solidFill>
                    <a:srgbClr val="000000"/>
                  </a:solidFill>
                </a:ln>
                <a:solidFill>
                  <a:srgbClr val="00C800"/>
                </a:solidFill>
                <a:latin typeface="Comic Sans MS" pitchFamily="34" charset="0"/>
                <a:ea typeface="Comic Sans MS" pitchFamily="34" charset="-122"/>
                <a:cs typeface="Comic Sans MS" pitchFamily="34" charset="-120"/>
              </a:rPr>
              <a:t>M</a:t>
            </a:r>
            <a:r>
              <a:rPr lang="en-US" sz="14000" b="1" dirty="0">
                <a:ln w="38100">
                  <a:solidFill>
                    <a:srgbClr val="000000"/>
                  </a:solidFill>
                </a:ln>
                <a:solidFill>
                  <a:srgbClr val="0000FF"/>
                </a:solidFill>
                <a:latin typeface="Comic Sans MS" pitchFamily="34" charset="0"/>
                <a:ea typeface="Comic Sans MS" pitchFamily="34" charset="-122"/>
                <a:cs typeface="Comic Sans MS" pitchFamily="34" charset="-120"/>
              </a:rPr>
              <a:t>O</a:t>
            </a:r>
            <a:r>
              <a:rPr lang="en-US" sz="14000" b="1" dirty="0">
                <a:ln w="38100">
                  <a:solidFill>
                    <a:srgbClr val="000000"/>
                  </a:solidFill>
                </a:ln>
                <a:solidFill>
                  <a:srgbClr val="FF0000"/>
                </a:solidFill>
                <a:latin typeface="Comic Sans MS" pitchFamily="34" charset="0"/>
                <a:ea typeface="Comic Sans MS" pitchFamily="34" charset="-122"/>
                <a:cs typeface="Comic Sans MS" pitchFamily="34" charset="-120"/>
              </a:rPr>
              <a:t> </a:t>
            </a:r>
            <a:r>
              <a:rPr lang="en-US" sz="14000" b="1" dirty="0">
                <a:ln w="38100">
                  <a:solidFill>
                    <a:srgbClr val="000000"/>
                  </a:solidFill>
                </a:ln>
                <a:solidFill>
                  <a:srgbClr val="8000FF"/>
                </a:solidFill>
                <a:latin typeface="Comic Sans MS" pitchFamily="34" charset="0"/>
                <a:ea typeface="Comic Sans MS" pitchFamily="34" charset="-122"/>
                <a:cs typeface="Comic Sans MS" pitchFamily="34" charset="-120"/>
              </a:rPr>
              <a:t>T</a:t>
            </a:r>
            <a:r>
              <a:rPr lang="en-US" sz="14000" b="1" dirty="0">
                <a:ln w="38100">
                  <a:solidFill>
                    <a:srgbClr val="000000"/>
                  </a:solidFill>
                </a:ln>
                <a:solidFill>
                  <a:srgbClr val="FF00FF"/>
                </a:solidFill>
                <a:latin typeface="Comic Sans MS" pitchFamily="34" charset="0"/>
                <a:ea typeface="Comic Sans MS" pitchFamily="34" charset="-122"/>
                <a:cs typeface="Comic Sans MS" pitchFamily="34" charset="-120"/>
              </a:rPr>
              <a:t>I</a:t>
            </a:r>
            <a:r>
              <a:rPr lang="en-US" sz="14000" b="1" dirty="0">
                <a:ln w="38100">
                  <a:solidFill>
                    <a:srgbClr val="000000"/>
                  </a:solidFill>
                </a:ln>
                <a:solidFill>
                  <a:srgbClr val="FF0000"/>
                </a:solidFill>
                <a:latin typeface="Comic Sans MS" pitchFamily="34" charset="0"/>
                <a:ea typeface="Comic Sans MS" pitchFamily="34" charset="-122"/>
                <a:cs typeface="Comic Sans MS" pitchFamily="34" charset="-120"/>
              </a:rPr>
              <a:t>M</a:t>
            </a:r>
            <a:r>
              <a:rPr lang="en-US" sz="14000" b="1" dirty="0">
                <a:ln w="38100">
                  <a:solidFill>
                    <a:srgbClr val="000000"/>
                  </a:solidFill>
                </a:ln>
                <a:solidFill>
                  <a:srgbClr val="FF8000"/>
                </a:solidFill>
                <a:latin typeface="Comic Sans MS" pitchFamily="34" charset="0"/>
                <a:ea typeface="Comic Sans MS" pitchFamily="34" charset="-122"/>
                <a:cs typeface="Comic Sans MS" pitchFamily="34" charset="-120"/>
              </a:rPr>
              <a:t>E</a:t>
            </a:r>
            <a:endParaRPr lang="en-US" sz="14000" dirty="0"/>
          </a:p>
        </p:txBody>
      </p:sp>
      <p:pic>
        <p:nvPicPr>
          <p:cNvPr id="6" name="Image 3" descr="decorative MS Paint doodle">    </p:cNvPr>
          <p:cNvPicPr>
            <a:picLocks noChangeAspect="1"/>
          </p:cNvPicPr>
          <p:nvPr/>
        </p:nvPicPr>
        <p:blipFill>
          <a:blip r:embed="rId4"/>
          <a:stretch>
            <a:fillRect/>
          </a:stretch>
        </p:blipFill>
        <p:spPr>
          <a:xfrm>
            <a:off x="7680960" y="3886200"/>
            <a:ext cx="1828800" cy="2377440"/>
          </a:xfrm>
          <a:prstGeom prst="rect">
            <a:avLst/>
          </a:prstGeom>
        </p:spPr>
      </p:pic>
      <p:sp>
        <p:nvSpPr>
          <p:cNvPr id="7" name="Text 1"/>
          <p:cNvSpPr/>
          <p:nvPr/>
        </p:nvSpPr>
        <p:spPr>
          <a:xfrm rot="-180000">
            <a:off x="9144000" y="6355080"/>
            <a:ext cx="2834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Comic Sans MS" pitchFamily="34" charset="0"/>
                <a:ea typeface="Comic Sans MS" pitchFamily="34" charset="-122"/>
                <a:cs typeface="Comic Sans MS" pitchFamily="34" charset="-120"/>
              </a:rPr>
              <a:t>graphic design is my passion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3" name="Image 1" descr="decorative MS Paint doodle">    </p:cNvPr>
          <p:cNvPicPr>
            <a:picLocks noChangeAspect="1"/>
          </p:cNvPicPr>
          <p:nvPr/>
        </p:nvPicPr>
        <p:blipFill>
          <a:blip r:embed="rId2"/>
          <a:stretch>
            <a:fillRect/>
          </a:stretch>
        </p:blipFill>
        <p:spPr>
          <a:xfrm>
            <a:off x="822960" y="502920"/>
            <a:ext cx="2920180" cy="4937760"/>
          </a:xfrm>
          <a:prstGeom prst="rect">
            <a:avLst/>
          </a:prstGeom>
        </p:spPr>
      </p:pic>
      <p:pic>
        <p:nvPicPr>
          <p:cNvPr id="5" name="Image 3" descr="decorative MS Paint doodle">    </p:cNvPr>
          <p:cNvPicPr>
            <a:picLocks noChangeAspect="1"/>
          </p:cNvPicPr>
          <p:nvPr/>
        </p:nvPicPr>
        <p:blipFill>
          <a:blip r:embed="rId4"/>
          <a:stretch>
            <a:fillRect/>
          </a:stretch>
        </p:blipFill>
        <p:spPr>
          <a:xfrm>
            <a:off x="9966960" y="3520440"/>
            <a:ext cx="1920240" cy="1920240"/>
          </a:xfrm>
          <a:prstGeom prst="rect">
            <a:avLst/>
          </a:prstGeom>
        </p:spPr>
      </p:pic>
      <p:sp>
        <p:nvSpPr>
          <p:cNvPr id="6" name="Text 0"/>
          <p:cNvSpPr/>
          <p:nvPr/>
        </p:nvSpPr>
        <p:spPr>
          <a:xfrm rot="-180000">
            <a:off x="5120640" y="868680"/>
            <a:ext cx="6217920" cy="1005840"/>
          </a:xfrm>
          <a:prstGeom prst="rect">
            <a:avLst/>
          </a:prstGeom>
          <a:noFill/>
          <a:ln/>
        </p:spPr>
        <p:txBody>
          <a:bodyPr wrap="square" lIns="0" tIns="0" rIns="0" bIns="0" rtlCol="0" anchor="ctr"/>
          <a:lstStyle/>
          <a:p>
            <a:pPr indent="0" marL="0">
              <a:buNone/>
            </a:pPr>
            <a:r>
              <a:rPr lang="en-US" sz="5400" b="1" dirty="0">
                <a:solidFill>
                  <a:srgbClr val="FF0000"/>
                </a:solidFill>
                <a:latin typeface="Comic Sans MS" pitchFamily="34" charset="0"/>
                <a:ea typeface="Comic Sans MS" pitchFamily="34" charset="-122"/>
                <a:cs typeface="Comic Sans MS" pitchFamily="34" charset="-120"/>
              </a:rPr>
              <a:t>Thank you.</a:t>
            </a:r>
            <a:endParaRPr lang="en-US" sz="5400" dirty="0"/>
          </a:p>
        </p:txBody>
      </p:sp>
      <p:sp>
        <p:nvSpPr>
          <p:cNvPr id="7" name="Text 1"/>
          <p:cNvSpPr/>
          <p:nvPr/>
        </p:nvSpPr>
        <p:spPr>
          <a:xfrm rot="120000">
            <a:off x="5394960" y="2011680"/>
            <a:ext cx="5943600" cy="1005840"/>
          </a:xfrm>
          <a:prstGeom prst="rect">
            <a:avLst/>
          </a:prstGeom>
          <a:noFill/>
          <a:ln/>
        </p:spPr>
        <p:txBody>
          <a:bodyPr wrap="square" lIns="0" tIns="0" rIns="0" bIns="0" rtlCol="0" anchor="ctr"/>
          <a:lstStyle/>
          <a:p>
            <a:pPr indent="0" marL="0">
              <a:buNone/>
            </a:pPr>
            <a:r>
              <a:rPr lang="en-US" sz="5000" b="1" dirty="0">
                <a:solidFill>
                  <a:srgbClr val="FF0000"/>
                </a:solidFill>
                <a:latin typeface="Comic Sans MS" pitchFamily="34" charset="0"/>
                <a:ea typeface="Comic Sans MS" pitchFamily="34" charset="-122"/>
                <a:cs typeface="Comic Sans MS" pitchFamily="34" charset="-120"/>
              </a:rPr>
              <a:t>P</a:t>
            </a:r>
            <a:r>
              <a:rPr lang="en-US" sz="5000" b="1" dirty="0">
                <a:solidFill>
                  <a:srgbClr val="FF8000"/>
                </a:solidFill>
                <a:latin typeface="Comic Sans MS" pitchFamily="34" charset="0"/>
                <a:ea typeface="Comic Sans MS" pitchFamily="34" charset="-122"/>
                <a:cs typeface="Comic Sans MS" pitchFamily="34" charset="-120"/>
              </a:rPr>
              <a:t>l</a:t>
            </a:r>
            <a:r>
              <a:rPr lang="en-US" sz="5000" b="1" dirty="0">
                <a:solidFill>
                  <a:srgbClr val="00C800"/>
                </a:solidFill>
                <a:latin typeface="Comic Sans MS" pitchFamily="34" charset="0"/>
                <a:ea typeface="Comic Sans MS" pitchFamily="34" charset="-122"/>
                <a:cs typeface="Comic Sans MS" pitchFamily="34" charset="-120"/>
              </a:rPr>
              <a:t>e</a:t>
            </a:r>
            <a:r>
              <a:rPr lang="en-US" sz="5000" b="1" dirty="0">
                <a:solidFill>
                  <a:srgbClr val="0000FF"/>
                </a:solidFill>
                <a:latin typeface="Comic Sans MS" pitchFamily="34" charset="0"/>
                <a:ea typeface="Comic Sans MS" pitchFamily="34" charset="-122"/>
                <a:cs typeface="Comic Sans MS" pitchFamily="34" charset="-120"/>
              </a:rPr>
              <a:t>a</a:t>
            </a:r>
            <a:r>
              <a:rPr lang="en-US" sz="5000" b="1" dirty="0">
                <a:solidFill>
                  <a:srgbClr val="8000FF"/>
                </a:solidFill>
                <a:latin typeface="Comic Sans MS" pitchFamily="34" charset="0"/>
                <a:ea typeface="Comic Sans MS" pitchFamily="34" charset="-122"/>
                <a:cs typeface="Comic Sans MS" pitchFamily="34" charset="-120"/>
              </a:rPr>
              <a:t>s</a:t>
            </a:r>
            <a:r>
              <a:rPr lang="en-US" sz="5000" b="1" dirty="0">
                <a:solidFill>
                  <a:srgbClr val="FF00FF"/>
                </a:solidFill>
                <a:latin typeface="Comic Sans MS" pitchFamily="34" charset="0"/>
                <a:ea typeface="Comic Sans MS" pitchFamily="34" charset="-122"/>
                <a:cs typeface="Comic Sans MS" pitchFamily="34" charset="-120"/>
              </a:rPr>
              <a:t>e</a:t>
            </a:r>
            <a:r>
              <a:rPr lang="en-US" sz="5000" b="1" dirty="0">
                <a:solidFill>
                  <a:srgbClr val="FF0000"/>
                </a:solidFill>
                <a:latin typeface="Comic Sans MS" pitchFamily="34" charset="0"/>
                <a:ea typeface="Comic Sans MS" pitchFamily="34" charset="-122"/>
                <a:cs typeface="Comic Sans MS" pitchFamily="34" charset="-120"/>
              </a:rPr>
              <a:t> </a:t>
            </a:r>
            <a:r>
              <a:rPr lang="en-US" sz="5000" b="1" dirty="0">
                <a:solidFill>
                  <a:srgbClr val="FF0000"/>
                </a:solidFill>
                <a:latin typeface="Comic Sans MS" pitchFamily="34" charset="0"/>
                <a:ea typeface="Comic Sans MS" pitchFamily="34" charset="-122"/>
                <a:cs typeface="Comic Sans MS" pitchFamily="34" charset="-120"/>
              </a:rPr>
              <a:t>c</a:t>
            </a:r>
            <a:r>
              <a:rPr lang="en-US" sz="5000" b="1" dirty="0">
                <a:solidFill>
                  <a:srgbClr val="FF8000"/>
                </a:solidFill>
                <a:latin typeface="Comic Sans MS" pitchFamily="34" charset="0"/>
                <a:ea typeface="Comic Sans MS" pitchFamily="34" charset="-122"/>
                <a:cs typeface="Comic Sans MS" pitchFamily="34" charset="-120"/>
              </a:rPr>
              <a:t>l</a:t>
            </a:r>
            <a:r>
              <a:rPr lang="en-US" sz="5000" b="1" dirty="0">
                <a:solidFill>
                  <a:srgbClr val="00C800"/>
                </a:solidFill>
                <a:latin typeface="Comic Sans MS" pitchFamily="34" charset="0"/>
                <a:ea typeface="Comic Sans MS" pitchFamily="34" charset="-122"/>
                <a:cs typeface="Comic Sans MS" pitchFamily="34" charset="-120"/>
              </a:rPr>
              <a:t>a</a:t>
            </a:r>
            <a:r>
              <a:rPr lang="en-US" sz="5000" b="1" dirty="0">
                <a:solidFill>
                  <a:srgbClr val="0000FF"/>
                </a:solidFill>
                <a:latin typeface="Comic Sans MS" pitchFamily="34" charset="0"/>
                <a:ea typeface="Comic Sans MS" pitchFamily="34" charset="-122"/>
                <a:cs typeface="Comic Sans MS" pitchFamily="34" charset="-120"/>
              </a:rPr>
              <a:t>p</a:t>
            </a:r>
            <a:r>
              <a:rPr lang="en-US" sz="5000" b="1" dirty="0">
                <a:solidFill>
                  <a:srgbClr val="8000FF"/>
                </a:solidFill>
                <a:latin typeface="Comic Sans MS" pitchFamily="34" charset="0"/>
                <a:ea typeface="Comic Sans MS" pitchFamily="34" charset="-122"/>
                <a:cs typeface="Comic Sans MS" pitchFamily="34" charset="-120"/>
              </a:rPr>
              <a:t>.</a:t>
            </a:r>
            <a:endParaRPr lang="en-US" sz="5000" dirty="0"/>
          </a:p>
        </p:txBody>
      </p:sp>
      <p:sp>
        <p:nvSpPr>
          <p:cNvPr id="8" name="Text 2"/>
          <p:cNvSpPr/>
          <p:nvPr/>
        </p:nvSpPr>
        <p:spPr>
          <a:xfrm rot="-120000">
            <a:off x="5120640" y="3154680"/>
            <a:ext cx="6217920" cy="1005840"/>
          </a:xfrm>
          <a:prstGeom prst="rect">
            <a:avLst/>
          </a:prstGeom>
          <a:noFill/>
          <a:ln/>
        </p:spPr>
        <p:txBody>
          <a:bodyPr wrap="square" lIns="0" tIns="0" rIns="0" bIns="0" rtlCol="0" anchor="ctr"/>
          <a:lstStyle/>
          <a:p>
            <a:pPr indent="0" marL="0">
              <a:buNone/>
            </a:pPr>
            <a:r>
              <a:rPr lang="en-US" sz="5400" b="1" dirty="0">
                <a:solidFill>
                  <a:srgbClr val="0000FF"/>
                </a:solidFill>
                <a:latin typeface="Comic Sans MS" pitchFamily="34" charset="0"/>
                <a:ea typeface="Comic Sans MS" pitchFamily="34" charset="-122"/>
                <a:cs typeface="Comic Sans MS" pitchFamily="34" charset="-120"/>
              </a:rPr>
              <a:t>Please fund us.</a:t>
            </a:r>
            <a:endParaRPr lang="en-US" sz="5400" dirty="0"/>
          </a:p>
        </p:txBody>
      </p:sp>
      <p:sp>
        <p:nvSpPr>
          <p:cNvPr id="90" name="Built with strip"/>
          <p:cNvSpPr/>
          <p:nvPr/>
        </p:nvSpPr>
        <p:spPr>
          <a:xfrm>
            <a:off x="228600" y="5669280"/>
            <a:ext cx="11731752" cy="777240"/>
          </a:xfrm>
          <a:prstGeom prst="rect">
            <a:avLst/>
          </a:prstGeom>
          <a:solidFill>
            <a:srgbClr val="FFFFFF"/>
          </a:solidFill>
          <a:ln w="19050">
            <a:solidFill>
              <a:srgbClr val="000000"/>
            </a:solidFill>
            <a:prstDash val="dash"/>
          </a:ln>
        </p:spPr>
      </p:sp>
      <p:sp>
        <p:nvSpPr>
          <p:cNvPr id="91" name="Built with label"/>
          <p:cNvSpPr txBox="1"/>
          <p:nvPr/>
        </p:nvSpPr>
        <p:spPr>
          <a:xfrm rot="-180000">
            <a:off x="411480" y="5824728"/>
            <a:ext cx="1143000" cy="457200"/>
          </a:xfrm>
          <a:prstGeom prst="rect">
            <a:avLst/>
          </a:prstGeom>
          <a:noFill/>
        </p:spPr>
        <p:txBody>
          <a:bodyPr wrap="none" lIns="0" tIns="0" rIns="0" bIns="0" anchor="ctr"/>
          <a:lstStyle/>
          <a:p>
            <a:pPr algn="l"/>
            <a:r>
              <a:rPr lang="en-US" sz="1800" b="1" dirty="0">
                <a:solidFill>
                  <a:srgbClr val="000000"/>
                </a:solidFill>
                <a:latin typeface="Comic Sans MS"/>
                <a:cs typeface="Comic Sans MS"/>
              </a:rPr>
              <a:t>built with:</a:t>
            </a:r>
          </a:p>
        </p:txBody>
      </p:sp>
      <p:pic>
        <p:nvPicPr>
          <p:cNvPr id="92" name="Logo claude" descr="Claude logo"/>
          <p:cNvPicPr>
            <a:picLocks noChangeAspect="1"/>
          </p:cNvPicPr>
          <p:nvPr/>
        </p:nvPicPr>
        <p:blipFill>
          <a:blip r:embed="rIdLogo0"/>
          <a:stretch>
            <a:fillRect/>
          </a:stretch>
        </p:blipFill>
        <p:spPr>
          <a:xfrm>
            <a:off x="1768593" y="5920740"/>
            <a:ext cx="1254998" cy="274320"/>
          </a:xfrm>
          <a:prstGeom prst="rect">
            <a:avLst/>
          </a:prstGeom>
        </p:spPr>
      </p:pic>
      <p:pic>
        <p:nvPicPr>
          <p:cNvPr id="93" name="Logo convex" descr="Convex logo"/>
          <p:cNvPicPr>
            <a:picLocks noChangeAspect="1"/>
          </p:cNvPicPr>
          <p:nvPr/>
        </p:nvPicPr>
        <p:blipFill>
          <a:blip r:embed="rIdLogo1"/>
          <a:stretch>
            <a:fillRect/>
          </a:stretch>
        </p:blipFill>
        <p:spPr>
          <a:xfrm>
            <a:off x="3279624" y="5920740"/>
            <a:ext cx="1517543" cy="274320"/>
          </a:xfrm>
          <a:prstGeom prst="rect">
            <a:avLst/>
          </a:prstGeom>
        </p:spPr>
      </p:pic>
      <p:pic>
        <p:nvPicPr>
          <p:cNvPr id="94" name="Logo vercel" descr="Vercel logo"/>
          <p:cNvPicPr>
            <a:picLocks noChangeAspect="1"/>
          </p:cNvPicPr>
          <p:nvPr/>
        </p:nvPicPr>
        <p:blipFill>
          <a:blip r:embed="rIdLogo2"/>
          <a:stretch>
            <a:fillRect/>
          </a:stretch>
        </p:blipFill>
        <p:spPr>
          <a:xfrm>
            <a:off x="5053199" y="5941314"/>
            <a:ext cx="1167003" cy="233172"/>
          </a:xfrm>
          <a:prstGeom prst="rect">
            <a:avLst/>
          </a:prstGeom>
        </p:spPr>
      </p:pic>
      <p:pic>
        <p:nvPicPr>
          <p:cNvPr id="95" name="Logo cursor" descr="Cursor logo"/>
          <p:cNvPicPr>
            <a:picLocks noChangeAspect="1"/>
          </p:cNvPicPr>
          <p:nvPr/>
        </p:nvPicPr>
        <p:blipFill>
          <a:blip r:embed="rIdLogo3"/>
          <a:stretch>
            <a:fillRect/>
          </a:stretch>
        </p:blipFill>
        <p:spPr>
          <a:xfrm>
            <a:off x="6476234" y="5920740"/>
            <a:ext cx="1153793" cy="274320"/>
          </a:xfrm>
          <a:prstGeom prst="rect">
            <a:avLst/>
          </a:prstGeom>
        </p:spPr>
      </p:pic>
      <p:pic>
        <p:nvPicPr>
          <p:cNvPr id="96" name="Logo resend" descr="Resend logo"/>
          <p:cNvPicPr>
            <a:picLocks noChangeAspect="1"/>
          </p:cNvPicPr>
          <p:nvPr/>
        </p:nvPicPr>
        <p:blipFill>
          <a:blip r:embed="rIdLogo4"/>
          <a:stretch>
            <a:fillRect/>
          </a:stretch>
        </p:blipFill>
        <p:spPr>
          <a:xfrm>
            <a:off x="7886059" y="5948172"/>
            <a:ext cx="1033533" cy="219456"/>
          </a:xfrm>
          <a:prstGeom prst="rect">
            <a:avLst/>
          </a:prstGeom>
        </p:spPr>
      </p:pic>
      <p:pic>
        <p:nvPicPr>
          <p:cNvPr id="97" name="Logo figma" descr="Figma logo"/>
          <p:cNvPicPr>
            <a:picLocks noChangeAspect="1"/>
          </p:cNvPicPr>
          <p:nvPr/>
        </p:nvPicPr>
        <p:blipFill>
          <a:blip r:embed="rIdLogo5"/>
          <a:stretch>
            <a:fillRect/>
          </a:stretch>
        </p:blipFill>
        <p:spPr>
          <a:xfrm>
            <a:off x="9175625" y="5913882"/>
            <a:ext cx="1029849" cy="288036"/>
          </a:xfrm>
          <a:prstGeom prst="rect">
            <a:avLst/>
          </a:prstGeom>
        </p:spPr>
      </p:pic>
      <p:pic>
        <p:nvPicPr>
          <p:cNvPr id="98" name="Logo grokbot" descr="Grok Bot logo mark"/>
          <p:cNvPicPr>
            <a:picLocks noChangeAspect="1"/>
          </p:cNvPicPr>
          <p:nvPr/>
        </p:nvPicPr>
        <p:blipFill>
          <a:blip r:embed="rIdLogo6"/>
          <a:stretch>
            <a:fillRect/>
          </a:stretch>
        </p:blipFill>
        <p:spPr>
          <a:xfrm>
            <a:off x="10461506" y="5913882"/>
            <a:ext cx="288036" cy="288036"/>
          </a:xfrm>
          <a:prstGeom prst="rect">
            <a:avLst/>
          </a:prstGeom>
        </p:spPr>
      </p:pic>
      <p:sp>
        <p:nvSpPr>
          <p:cNvPr id="99" name="Grok Bot name"/>
          <p:cNvSpPr txBox="1"/>
          <p:nvPr/>
        </p:nvSpPr>
        <p:spPr>
          <a:xfrm rot="0">
            <a:off x="10804406" y="5875020"/>
            <a:ext cx="914400" cy="365760"/>
          </a:xfrm>
          <a:prstGeom prst="rect">
            <a:avLst/>
          </a:prstGeom>
          <a:noFill/>
        </p:spPr>
        <p:txBody>
          <a:bodyPr wrap="none" lIns="0" tIns="0" rIns="0" bIns="0" anchor="ctr"/>
          <a:lstStyle/>
          <a:p>
            <a:pPr algn="l"/>
            <a:r>
              <a:rPr lang="en-US" sz="1500" b="1" dirty="0">
                <a:solidFill>
                  <a:srgbClr val="000000"/>
                </a:solidFill>
                <a:latin typeface="Arial"/>
                <a:cs typeface="Arial"/>
              </a:rPr>
              <a:t>Grok Bot</a:t>
            </a:r>
          </a:p>
        </p:txBody>
      </p:sp>
      <p:sp>
        <p:nvSpPr>
          <p:cNvPr id="9" name="Text 3"/>
          <p:cNvSpPr/>
          <p:nvPr/>
        </p:nvSpPr>
        <p:spPr>
          <a:xfrm rot="-180000">
            <a:off x="9144000" y="6510528"/>
            <a:ext cx="2834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Comic Sans MS" pitchFamily="34" charset="0"/>
                <a:ea typeface="Comic Sans MS" pitchFamily="34" charset="-122"/>
                <a:cs typeface="Comic Sans MS" pitchFamily="34" charset="-120"/>
              </a:rPr>
              <a:t>graphic design is my passion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Chartitable</dc:title>
  <dc:subject>PptxGenJS Presentation</dc:subject>
  <dc:creator>Chartitable</dc:creator>
  <cp:lastModifiedBy>Chartitable</cp:lastModifiedBy>
  <cp:revision>1</cp:revision>
  <dcterms:created xsi:type="dcterms:W3CDTF">2026-10-24T17:22:04Z</dcterms:created>
  <dcterms:modified xsi:type="dcterms:W3CDTF">2026-10-24T17:22:04Z</dcterms:modified>
</cp:coreProperties>
</file>